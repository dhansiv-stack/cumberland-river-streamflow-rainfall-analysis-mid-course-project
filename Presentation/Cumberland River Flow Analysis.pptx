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6"/>
  </p:notesMasterIdLst>
  <p:sldIdLst>
    <p:sldId id="256" r:id="rId2"/>
    <p:sldId id="259" r:id="rId3"/>
    <p:sldId id="263" r:id="rId4"/>
    <p:sldId id="264" r:id="rId5"/>
  </p:sldIdLst>
  <p:sldSz cx="9144000" cy="5143500" type="screen16x9"/>
  <p:notesSz cx="6858000" cy="9144000"/>
  <p:embeddedFontLst>
    <p:embeddedFont>
      <p:font typeface="Nanum Myeongjo" panose="020B0604020202020204" charset="-127"/>
      <p:regular r:id="rId7"/>
      <p:bold r:id="rId8"/>
    </p:embeddedFont>
    <p:embeddedFont>
      <p:font typeface="Georgia" panose="02040502050405020303" pitchFamily="18" charset="0"/>
      <p:regular r:id="rId9"/>
      <p:bold r:id="rId10"/>
      <p:italic r:id="rId11"/>
      <p:boldItalic r:id="rId12"/>
    </p:embeddedFont>
    <p:embeddedFont>
      <p:font typeface="Nunito Light" pitchFamily="2" charset="0"/>
      <p:regular r:id="rId13"/>
      <p: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Raleway" pitchFamily="2" charset="0"/>
      <p:regular r:id="rId19"/>
      <p:bold r:id="rId20"/>
      <p:italic r:id="rId21"/>
      <p:boldItalic r:id="rId22"/>
    </p:embeddedFont>
    <p:embeddedFont>
      <p:font typeface="Segoe UI" panose="020B0502040204020203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897204-7F3A-46DA-817C-B228C52864B8}">
  <a:tblStyle styleId="{C8897204-7F3A-46DA-817C-B228C52864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2105518-74FF-4174-93F1-77D5ECBA97F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font" Target="fonts/font20.fntdata"/><Relationship Id="rId3" Type="http://schemas.openxmlformats.org/officeDocument/2006/relationships/slide" Target="slides/slide2.xml"/><Relationship Id="rId21" Type="http://schemas.openxmlformats.org/officeDocument/2006/relationships/font" Target="fonts/font15.fnt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font" Target="fonts/font17.fntdata"/><Relationship Id="rId28" Type="http://schemas.openxmlformats.org/officeDocument/2006/relationships/viewProps" Target="viewProp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a6d3df76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a6d3df76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60550" y="912375"/>
            <a:ext cx="4978500" cy="25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220100" y="3885575"/>
            <a:ext cx="4259400" cy="40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839050" y="745625"/>
            <a:ext cx="2444400" cy="3707400"/>
          </a:xfrm>
          <a:prstGeom prst="round2Same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l="76407" b="50624"/>
          <a:stretch/>
        </p:blipFill>
        <p:spPr>
          <a:xfrm>
            <a:off x="6986727" y="0"/>
            <a:ext cx="2157276" cy="253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r="83041"/>
          <a:stretch/>
        </p:blipFill>
        <p:spPr>
          <a:xfrm>
            <a:off x="0" y="0"/>
            <a:ext cx="155064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4">
            <a:alphaModFix/>
          </a:blip>
          <a:srcRect l="65720" t="73833"/>
          <a:stretch/>
        </p:blipFill>
        <p:spPr>
          <a:xfrm>
            <a:off x="5906425" y="3753382"/>
            <a:ext cx="3237576" cy="1390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91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0000" y="1547575"/>
            <a:ext cx="42444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>
            <a:spLocks noGrp="1"/>
          </p:cNvSpPr>
          <p:nvPr>
            <p:ph type="pic" idx="2"/>
          </p:nvPr>
        </p:nvSpPr>
        <p:spPr>
          <a:xfrm>
            <a:off x="5571550" y="909875"/>
            <a:ext cx="2737500" cy="3543300"/>
          </a:xfrm>
          <a:prstGeom prst="round2Same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55" name="Google Shape;55;p7"/>
          <p:cNvPicPr preferRelativeResize="0"/>
          <p:nvPr/>
        </p:nvPicPr>
        <p:blipFill rotWithShape="1">
          <a:blip r:embed="rId2">
            <a:alphaModFix/>
          </a:blip>
          <a:srcRect l="2499" r="83041"/>
          <a:stretch/>
        </p:blipFill>
        <p:spPr>
          <a:xfrm>
            <a:off x="0" y="0"/>
            <a:ext cx="132205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7"/>
          <p:cNvPicPr preferRelativeResize="0"/>
          <p:nvPr/>
        </p:nvPicPr>
        <p:blipFill rotWithShape="1">
          <a:blip r:embed="rId3">
            <a:alphaModFix/>
          </a:blip>
          <a:srcRect l="65720" t="73833"/>
          <a:stretch/>
        </p:blipFill>
        <p:spPr>
          <a:xfrm rot="10800000" flipH="1">
            <a:off x="5986102" y="1"/>
            <a:ext cx="3134474" cy="134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62" name="Google Shape;62;p8"/>
          <p:cNvPicPr preferRelativeResize="0"/>
          <p:nvPr/>
        </p:nvPicPr>
        <p:blipFill rotWithShape="1">
          <a:blip r:embed="rId2">
            <a:alphaModFix/>
          </a:blip>
          <a:srcRect l="76407" b="50624"/>
          <a:stretch/>
        </p:blipFill>
        <p:spPr>
          <a:xfrm>
            <a:off x="6986727" y="0"/>
            <a:ext cx="2157276" cy="253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8"/>
          <p:cNvPicPr preferRelativeResize="0"/>
          <p:nvPr/>
        </p:nvPicPr>
        <p:blipFill rotWithShape="1">
          <a:blip r:embed="rId3">
            <a:alphaModFix/>
          </a:blip>
          <a:srcRect r="83041"/>
          <a:stretch/>
        </p:blipFill>
        <p:spPr>
          <a:xfrm>
            <a:off x="0" y="0"/>
            <a:ext cx="155064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8"/>
          <p:cNvPicPr preferRelativeResize="0"/>
          <p:nvPr/>
        </p:nvPicPr>
        <p:blipFill rotWithShape="1">
          <a:blip r:embed="rId4">
            <a:alphaModFix/>
          </a:blip>
          <a:srcRect l="65720" t="73833"/>
          <a:stretch/>
        </p:blipFill>
        <p:spPr>
          <a:xfrm>
            <a:off x="5906425" y="3753382"/>
            <a:ext cx="3237576" cy="1390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2">
            <a:alphaModFix/>
          </a:blip>
          <a:srcRect l="76407" b="50624"/>
          <a:stretch/>
        </p:blipFill>
        <p:spPr>
          <a:xfrm>
            <a:off x="6986727" y="0"/>
            <a:ext cx="2157276" cy="253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9"/>
          <p:cNvPicPr preferRelativeResize="0"/>
          <p:nvPr/>
        </p:nvPicPr>
        <p:blipFill rotWithShape="1">
          <a:blip r:embed="rId3">
            <a:alphaModFix/>
          </a:blip>
          <a:srcRect r="83041"/>
          <a:stretch/>
        </p:blipFill>
        <p:spPr>
          <a:xfrm>
            <a:off x="0" y="0"/>
            <a:ext cx="155064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9"/>
          <p:cNvPicPr preferRelativeResize="0"/>
          <p:nvPr/>
        </p:nvPicPr>
        <p:blipFill rotWithShape="1">
          <a:blip r:embed="rId4">
            <a:alphaModFix/>
          </a:blip>
          <a:srcRect l="65720" t="73833"/>
          <a:stretch/>
        </p:blipFill>
        <p:spPr>
          <a:xfrm>
            <a:off x="5906425" y="3753382"/>
            <a:ext cx="3237576" cy="1390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subTitle" idx="1"/>
          </p:nvPr>
        </p:nvSpPr>
        <p:spPr>
          <a:xfrm>
            <a:off x="1163737" y="1206500"/>
            <a:ext cx="29670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subTitle" idx="2"/>
          </p:nvPr>
        </p:nvSpPr>
        <p:spPr>
          <a:xfrm>
            <a:off x="1163737" y="1832375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subTitle" idx="3"/>
          </p:nvPr>
        </p:nvSpPr>
        <p:spPr>
          <a:xfrm>
            <a:off x="5013263" y="1832375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subTitle" idx="4"/>
          </p:nvPr>
        </p:nvSpPr>
        <p:spPr>
          <a:xfrm>
            <a:off x="1165837" y="3580700"/>
            <a:ext cx="29628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subTitle" idx="5"/>
          </p:nvPr>
        </p:nvSpPr>
        <p:spPr>
          <a:xfrm>
            <a:off x="5013263" y="3580700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9"/>
          <p:cNvSpPr txBox="1">
            <a:spLocks noGrp="1"/>
          </p:cNvSpPr>
          <p:nvPr>
            <p:ph type="subTitle" idx="6"/>
          </p:nvPr>
        </p:nvSpPr>
        <p:spPr>
          <a:xfrm>
            <a:off x="1165837" y="2954900"/>
            <a:ext cx="29628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subTitle" idx="7"/>
          </p:nvPr>
        </p:nvSpPr>
        <p:spPr>
          <a:xfrm>
            <a:off x="5013261" y="1206500"/>
            <a:ext cx="29670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subTitle" idx="8"/>
          </p:nvPr>
        </p:nvSpPr>
        <p:spPr>
          <a:xfrm>
            <a:off x="5013261" y="2954900"/>
            <a:ext cx="29670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 rotWithShape="1">
          <a:blip r:embed="rId2">
            <a:alphaModFix/>
          </a:blip>
          <a:srcRect r="83041"/>
          <a:stretch/>
        </p:blipFill>
        <p:spPr>
          <a:xfrm>
            <a:off x="0" y="0"/>
            <a:ext cx="155064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/>
          <p:cNvPicPr preferRelativeResize="0"/>
          <p:nvPr/>
        </p:nvPicPr>
        <p:blipFill rotWithShape="1">
          <a:blip r:embed="rId3">
            <a:alphaModFix/>
          </a:blip>
          <a:srcRect l="65720" t="73833"/>
          <a:stretch/>
        </p:blipFill>
        <p:spPr>
          <a:xfrm rot="10800000" flipH="1">
            <a:off x="5986102" y="1"/>
            <a:ext cx="3134474" cy="134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3"/>
          <p:cNvPicPr preferRelativeResize="0"/>
          <p:nvPr/>
        </p:nvPicPr>
        <p:blipFill rotWithShape="1">
          <a:blip r:embed="rId2">
            <a:alphaModFix/>
          </a:blip>
          <a:srcRect l="65720" t="73833"/>
          <a:stretch/>
        </p:blipFill>
        <p:spPr>
          <a:xfrm flipH="1">
            <a:off x="2" y="3783976"/>
            <a:ext cx="3134474" cy="134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3"/>
          <p:cNvPicPr preferRelativeResize="0"/>
          <p:nvPr/>
        </p:nvPicPr>
        <p:blipFill rotWithShape="1">
          <a:blip r:embed="rId3">
            <a:alphaModFix/>
          </a:blip>
          <a:srcRect t="63084" r="36520"/>
          <a:stretch/>
        </p:blipFill>
        <p:spPr>
          <a:xfrm rot="10800000">
            <a:off x="4611000" y="1"/>
            <a:ext cx="4533600" cy="137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3"/>
          <p:cNvSpPr/>
          <p:nvPr/>
        </p:nvSpPr>
        <p:spPr>
          <a:xfrm>
            <a:off x="315975" y="876150"/>
            <a:ext cx="166500" cy="1665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450550" y="4571125"/>
            <a:ext cx="166500" cy="1665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8423975" y="4442000"/>
            <a:ext cx="166500" cy="1665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4"/>
          <p:cNvPicPr preferRelativeResize="0"/>
          <p:nvPr/>
        </p:nvPicPr>
        <p:blipFill rotWithShape="1">
          <a:blip r:embed="rId2">
            <a:alphaModFix/>
          </a:blip>
          <a:srcRect l="65720" t="73833"/>
          <a:stretch/>
        </p:blipFill>
        <p:spPr>
          <a:xfrm flipH="1">
            <a:off x="1" y="3753382"/>
            <a:ext cx="3237576" cy="1390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 rotWithShape="1">
          <a:blip r:embed="rId3">
            <a:alphaModFix/>
          </a:blip>
          <a:srcRect r="83041"/>
          <a:stretch/>
        </p:blipFill>
        <p:spPr>
          <a:xfrm flipH="1">
            <a:off x="7593353" y="0"/>
            <a:ext cx="155064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anum Myeongjo"/>
              <a:buNone/>
              <a:defRPr sz="3000" b="1"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8" r:id="rId5"/>
    <p:sldLayoutId id="2147483665" r:id="rId6"/>
    <p:sldLayoutId id="2147483669" r:id="rId7"/>
    <p:sldLayoutId id="2147483670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4C80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>
            <a:spLocks noGrp="1"/>
          </p:cNvSpPr>
          <p:nvPr>
            <p:ph type="ctrTitle"/>
          </p:nvPr>
        </p:nvSpPr>
        <p:spPr>
          <a:xfrm>
            <a:off x="860550" y="912375"/>
            <a:ext cx="4978500" cy="25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br>
              <a:rPr lang="en-US" sz="3600" dirty="0"/>
            </a:br>
            <a:r>
              <a:rPr lang="en-US" sz="3200" dirty="0">
                <a:latin typeface="Georgia" panose="02040502050405020303" pitchFamily="18" charset="0"/>
              </a:rPr>
              <a:t>Cumberland River Streamflow &amp; Rainfall Analysis</a:t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sz="1800" dirty="0">
                <a:latin typeface="Georgia" panose="02040502050405020303" pitchFamily="18" charset="0"/>
              </a:rPr>
              <a:t>Mid-Course Project</a:t>
            </a:r>
            <a:br>
              <a:rPr lang="en-US" sz="1800" dirty="0">
                <a:latin typeface="Georgia" panose="02040502050405020303" pitchFamily="18" charset="0"/>
              </a:rPr>
            </a:br>
            <a:r>
              <a:rPr lang="en-US" sz="1800" dirty="0">
                <a:latin typeface="Georgia" panose="02040502050405020303" pitchFamily="18" charset="0"/>
              </a:rPr>
              <a:t>Nashville Software School</a:t>
            </a:r>
          </a:p>
        </p:txBody>
      </p:sp>
      <p:sp>
        <p:nvSpPr>
          <p:cNvPr id="209" name="Google Shape;209;p28"/>
          <p:cNvSpPr txBox="1">
            <a:spLocks noGrp="1"/>
          </p:cNvSpPr>
          <p:nvPr>
            <p:ph type="subTitle" idx="1"/>
          </p:nvPr>
        </p:nvSpPr>
        <p:spPr>
          <a:xfrm>
            <a:off x="1220100" y="3885575"/>
            <a:ext cx="42594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Sivaraja Vaithiyalingam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Data Scientist Apperentice – NSS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February 2026</a:t>
            </a:r>
            <a:endParaRPr dirty="0"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</p:txBody>
      </p:sp>
      <p:pic>
        <p:nvPicPr>
          <p:cNvPr id="210" name="Google Shape;210;p2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53" r="553"/>
          <a:stretch/>
        </p:blipFill>
        <p:spPr>
          <a:xfrm>
            <a:off x="5839050" y="745625"/>
            <a:ext cx="2444400" cy="3707400"/>
          </a:xfrm>
          <a:prstGeom prst="round2SameRect">
            <a:avLst>
              <a:gd name="adj1" fmla="val 43679"/>
              <a:gd name="adj2" fmla="val 0"/>
            </a:avLst>
          </a:prstGeom>
        </p:spPr>
      </p:pic>
      <p:cxnSp>
        <p:nvCxnSpPr>
          <p:cNvPr id="215" name="Google Shape;215;p28"/>
          <p:cNvCxnSpPr/>
          <p:nvPr/>
        </p:nvCxnSpPr>
        <p:spPr>
          <a:xfrm>
            <a:off x="2326650" y="3714582"/>
            <a:ext cx="204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91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" panose="02040502050405020303" pitchFamily="18" charset="0"/>
              </a:rPr>
              <a:t>Introduction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252" name="Google Shape;252;p31"/>
          <p:cNvSpPr txBox="1">
            <a:spLocks noGrp="1"/>
          </p:cNvSpPr>
          <p:nvPr>
            <p:ph type="body" idx="1"/>
          </p:nvPr>
        </p:nvSpPr>
        <p:spPr>
          <a:xfrm>
            <a:off x="772116" y="1116433"/>
            <a:ext cx="42444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This project investigates the relationship between daily rainfall and streamflow in the Cumberland River at Nashville.</a:t>
            </a:r>
          </a:p>
          <a:p>
            <a:pPr marL="0" lvl="0" indent="0"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US" dirty="0"/>
              <a:t>“Discharge (or streamflow)” is the volume of water passing the Nashville USGS gauge per second, measured in cubic feet per second (</a:t>
            </a:r>
            <a:r>
              <a:rPr lang="en-US" dirty="0" err="1"/>
              <a:t>cfs</a:t>
            </a:r>
            <a:r>
              <a:rPr lang="en-US" dirty="0"/>
              <a:t>).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Using publicly available hydrologic data (2010–2024), the analysis examines how rainfall patterns influence river discharge dynamics and short-term flow behavior</a:t>
            </a:r>
          </a:p>
          <a:p>
            <a:pPr marL="0" lvl="0" indent="0">
              <a:buNone/>
            </a:pPr>
            <a:endParaRPr lang="e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5240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Purpose of Investigation</a:t>
            </a:r>
          </a:p>
          <a:p>
            <a:pPr marL="152400" indent="0"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Examine rainfall–streamflow relationships over time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Quantify short-term flow persistence using autocorrelation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Evaluate lag-based regression models for daily discharge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Provide insight into hydrologic behavior relevant to flood risk</a:t>
            </a:r>
          </a:p>
        </p:txBody>
      </p:sp>
      <p:pic>
        <p:nvPicPr>
          <p:cNvPr id="253" name="Google Shape;253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174" b="12500"/>
          <a:stretch/>
        </p:blipFill>
        <p:spPr>
          <a:xfrm>
            <a:off x="5571550" y="909875"/>
            <a:ext cx="2737500" cy="3543300"/>
          </a:xfrm>
          <a:prstGeom prst="round2Same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5"/>
          <p:cNvSpPr txBox="1">
            <a:spLocks noGrp="1"/>
          </p:cNvSpPr>
          <p:nvPr>
            <p:ph type="title"/>
          </p:nvPr>
        </p:nvSpPr>
        <p:spPr>
          <a:xfrm>
            <a:off x="2335598" y="30289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" panose="02040502050405020303" pitchFamily="18" charset="0"/>
              </a:rPr>
              <a:t>Analytical Workflow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19" name="Google Shape;303;p35">
            <a:extLst>
              <a:ext uri="{FF2B5EF4-FFF2-40B4-BE49-F238E27FC236}">
                <a16:creationId xmlns:a16="http://schemas.microsoft.com/office/drawing/2014/main" id="{30DD1BC0-EDC9-748C-4435-CFBBA22FD94D}"/>
              </a:ext>
            </a:extLst>
          </p:cNvPr>
          <p:cNvSpPr txBox="1">
            <a:spLocks/>
          </p:cNvSpPr>
          <p:nvPr/>
        </p:nvSpPr>
        <p:spPr>
          <a:xfrm>
            <a:off x="5536965" y="1498754"/>
            <a:ext cx="2128391" cy="35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Data Preparation &amp; Statistical Analysis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7DCA9E3C-1F44-63AD-9CAE-42BC44F47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543" y="1880771"/>
            <a:ext cx="22252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Autocorrelation (ACF)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Converted long to wide data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Lag regression modeling</a:t>
            </a:r>
          </a:p>
        </p:txBody>
      </p:sp>
      <p:sp>
        <p:nvSpPr>
          <p:cNvPr id="21" name="Google Shape;303;p35">
            <a:extLst>
              <a:ext uri="{FF2B5EF4-FFF2-40B4-BE49-F238E27FC236}">
                <a16:creationId xmlns:a16="http://schemas.microsoft.com/office/drawing/2014/main" id="{9C78F3E8-1CDA-BC69-DF91-021019C60853}"/>
              </a:ext>
            </a:extLst>
          </p:cNvPr>
          <p:cNvSpPr txBox="1">
            <a:spLocks/>
          </p:cNvSpPr>
          <p:nvPr/>
        </p:nvSpPr>
        <p:spPr>
          <a:xfrm>
            <a:off x="5717673" y="2794528"/>
            <a:ext cx="2128391" cy="35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Interactive Application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FFA310EF-10EE-0E46-9C21-C94B2840A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543" y="3082937"/>
            <a:ext cx="320472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R Shiny dashboard for dynamic exploration</a:t>
            </a:r>
          </a:p>
        </p:txBody>
      </p:sp>
      <p:sp>
        <p:nvSpPr>
          <p:cNvPr id="23" name="Google Shape;303;p35">
            <a:extLst>
              <a:ext uri="{FF2B5EF4-FFF2-40B4-BE49-F238E27FC236}">
                <a16:creationId xmlns:a16="http://schemas.microsoft.com/office/drawing/2014/main" id="{EFA44542-2DD6-83E2-9509-2A695E1D8C53}"/>
              </a:ext>
            </a:extLst>
          </p:cNvPr>
          <p:cNvSpPr txBox="1">
            <a:spLocks/>
          </p:cNvSpPr>
          <p:nvPr/>
        </p:nvSpPr>
        <p:spPr>
          <a:xfrm>
            <a:off x="904154" y="1703038"/>
            <a:ext cx="2128391" cy="35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l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Data Sources</a:t>
            </a:r>
          </a:p>
          <a:p>
            <a:pPr marL="0" indent="0" algn="l"/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l"/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Streamflow Data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6FFF7DB8-9E24-2F7E-73EE-1656ADFC4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7936" y="1778865"/>
            <a:ext cx="351570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USGS Daily Discharge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Site: 03431500 (Cumberland Rivers at Nashville)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Time period: 2010-2024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Google Shape;303;p35">
            <a:extLst>
              <a:ext uri="{FF2B5EF4-FFF2-40B4-BE49-F238E27FC236}">
                <a16:creationId xmlns:a16="http://schemas.microsoft.com/office/drawing/2014/main" id="{EF18C948-6E55-1AD3-9270-AAA262A22DC0}"/>
              </a:ext>
            </a:extLst>
          </p:cNvPr>
          <p:cNvSpPr txBox="1">
            <a:spLocks/>
          </p:cNvSpPr>
          <p:nvPr/>
        </p:nvSpPr>
        <p:spPr>
          <a:xfrm>
            <a:off x="904153" y="2653167"/>
            <a:ext cx="2128391" cy="35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l"/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l"/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l"/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Rainfall Data</a:t>
            </a: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8DF8E2AD-0DA6-6958-0965-AB7901F75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7934" y="2794528"/>
            <a:ext cx="325922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IEM Multi-station rainfall hourly preparation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Stations: BNA, CKV, ASH, MRB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Aggregated to daily totals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Google Shape;303;p35">
            <a:extLst>
              <a:ext uri="{FF2B5EF4-FFF2-40B4-BE49-F238E27FC236}">
                <a16:creationId xmlns:a16="http://schemas.microsoft.com/office/drawing/2014/main" id="{3DC3FB0F-905B-238F-50D5-3D1AB3BA9AE2}"/>
              </a:ext>
            </a:extLst>
          </p:cNvPr>
          <p:cNvSpPr txBox="1">
            <a:spLocks/>
          </p:cNvSpPr>
          <p:nvPr/>
        </p:nvSpPr>
        <p:spPr>
          <a:xfrm>
            <a:off x="904153" y="3757348"/>
            <a:ext cx="2128391" cy="35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l"/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l"/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l"/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Final Dataset</a:t>
            </a:r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CF5A1C2D-D072-AF37-172A-AAA216A2A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460" y="4084549"/>
            <a:ext cx="28296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Merged daily rainfall and discharge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~ 15 years of aligned time series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302;p35">
            <a:extLst>
              <a:ext uri="{FF2B5EF4-FFF2-40B4-BE49-F238E27FC236}">
                <a16:creationId xmlns:a16="http://schemas.microsoft.com/office/drawing/2014/main" id="{C11E4830-16B6-D965-3543-C3A49AFCB0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7114" y="178700"/>
            <a:ext cx="296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eorgia" panose="02040502050405020303" pitchFamily="18" charset="0"/>
              </a:rPr>
              <a:t>Conclusion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AE7D2324-905C-CFDE-5172-16B2F7B68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194" y="1513656"/>
            <a:ext cx="676819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The Cumberland River shows extremely strong short-term memory (Lag-1 ACF ≈ 0.97).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Rainfall alone explains minimal daily discharge variability (R² ≈ 0.01).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Lagged discharge explains ~95% of flow variability, with rainfall adding modest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Additional rainfall features yield incremental gains of discharge after accounting for persistence.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Statistical results align with physical basin boundaries and dam 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The full workflow was operationalized into an interactive Shiny appli</a:t>
            </a:r>
            <a:r>
              <a:rPr lang="en-US" altLang="en-US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cation.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Google Shape;303;p35">
            <a:extLst>
              <a:ext uri="{FF2B5EF4-FFF2-40B4-BE49-F238E27FC236}">
                <a16:creationId xmlns:a16="http://schemas.microsoft.com/office/drawing/2014/main" id="{7844087E-3CC4-7E0B-D8F6-46FFFD490DCA}"/>
              </a:ext>
            </a:extLst>
          </p:cNvPr>
          <p:cNvSpPr txBox="1">
            <a:spLocks/>
          </p:cNvSpPr>
          <p:nvPr/>
        </p:nvSpPr>
        <p:spPr>
          <a:xfrm>
            <a:off x="1234487" y="1243590"/>
            <a:ext cx="2128391" cy="35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l"/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Key Insights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586374"/>
      </p:ext>
    </p:extLst>
  </p:cSld>
  <p:clrMapOvr>
    <a:masterClrMapping/>
  </p:clrMapOvr>
</p:sld>
</file>

<file path=ppt/theme/theme1.xml><?xml version="1.0" encoding="utf-8"?>
<a:theme xmlns:a="http://schemas.openxmlformats.org/drawingml/2006/main" name="Watershed Restoration Campaign by Slidesgo">
  <a:themeElements>
    <a:clrScheme name="Simple Light">
      <a:dk1>
        <a:srgbClr val="FFFFFF"/>
      </a:dk1>
      <a:lt1>
        <a:srgbClr val="3F4C80"/>
      </a:lt1>
      <a:dk2>
        <a:srgbClr val="EBD47C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304</Words>
  <Application>Microsoft Office PowerPoint</Application>
  <PresentationFormat>On-screen Show (16:9)</PresentationFormat>
  <Paragraphs>51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Nanum Myeongjo</vt:lpstr>
      <vt:lpstr>Nunito Light</vt:lpstr>
      <vt:lpstr>Georgia</vt:lpstr>
      <vt:lpstr>Segoe UI</vt:lpstr>
      <vt:lpstr>Raleway</vt:lpstr>
      <vt:lpstr>Open Sans</vt:lpstr>
      <vt:lpstr>Arial</vt:lpstr>
      <vt:lpstr>Watershed Restoration Campaign by Slidesgo</vt:lpstr>
      <vt:lpstr> Cumberland River Streamflow &amp; Rainfall Analysis Mid-Course Project Nashville Software School</vt:lpstr>
      <vt:lpstr>Introduction</vt:lpstr>
      <vt:lpstr>Analytical Workflow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Sivaraja Vaithiyalingam</dc:creator>
  <cp:lastModifiedBy>Sivaraja Vaithiyalingam</cp:lastModifiedBy>
  <cp:revision>17</cp:revision>
  <dcterms:modified xsi:type="dcterms:W3CDTF">2026-02-20T00:14:38Z</dcterms:modified>
</cp:coreProperties>
</file>